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8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7"/>
                </a:solidFill>
                <a:latin typeface="Calibri"/>
              </a:rPr>
              <a:t>Manara University  ·  Department of Robotics and Intelligent Systems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64592" cy="6355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3088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FFFFFF"/>
                </a:solidFill>
                <a:latin typeface="Calibri"/>
              </a:rPr>
              <a:t>Chest X-Ray Pneumonia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861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D6E4F7"/>
                </a:solidFill>
                <a:latin typeface="Calibri"/>
              </a:rPr>
              <a:t>A Comparative Analysis of VGG16, VGG19, and EfficientNetB0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726180"/>
            <a:ext cx="75895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39364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6E4F7"/>
                </a:solidFill>
                <a:latin typeface="Calibri"/>
              </a:rPr>
              <a:t>Team Members: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3936492"/>
            <a:ext cx="640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+mj-lt"/>
              </a:rPr>
              <a:t>Zain Alabidin Shbani  ·  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Lana Al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Wazzeh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</a:t>
            </a:r>
            <a:r>
              <a:rPr sz="1400" b="0" i="0" dirty="0">
                <a:solidFill>
                  <a:schemeClr val="bg1"/>
                </a:solidFill>
                <a:latin typeface="+mj-lt"/>
              </a:rPr>
              <a:t>·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Beilassan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Hdewa</a:t>
            </a:r>
            <a:endParaRPr sz="1400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0" y="43479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6E4F7"/>
                </a:solidFill>
                <a:latin typeface="Calibri"/>
              </a:rPr>
              <a:t>Supervisor: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4347972"/>
            <a:ext cx="640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  <a:latin typeface="+mj-lt"/>
              </a:rPr>
              <a:t>Dr. Eng. Mohammad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Mashi</a:t>
            </a:r>
            <a:endParaRPr sz="1400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0" y="47594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6E4F7"/>
                </a:solidFill>
                <a:latin typeface="Calibri"/>
              </a:rPr>
              <a:t>Course: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4759452"/>
            <a:ext cx="640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Deep Learning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1709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6E4F7"/>
                </a:solidFill>
                <a:latin typeface="Calibri"/>
              </a:rPr>
              <a:t>Academic Year: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51709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2025 –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76739E9-D38E-5401-1409-324E624B5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178" y="844236"/>
            <a:ext cx="972467" cy="13633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4664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411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6E4F7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02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  <a:latin typeface="Calibri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Problem motivation &amp; clinical importance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40280"/>
            <a:ext cx="502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22402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  <a:latin typeface="Calibri"/>
              </a:rPr>
              <a:t>Dataset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Source, splits, class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154680"/>
            <a:ext cx="502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31546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  <a:latin typeface="Calibri"/>
              </a:rPr>
              <a:t>Preprocessing &amp; Augmentation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107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Pipeline and reproducibility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69080"/>
            <a:ext cx="502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40690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  <a:latin typeface="Calibri"/>
              </a:rPr>
              <a:t>Model Architectures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25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VGG16, VGG19, EfficientNetB0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983480"/>
            <a:ext cx="502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49834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  <a:latin typeface="Calibri"/>
              </a:rPr>
              <a:t>Training Methodology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395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Transfer learning, fine-tuning, callbacks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325880"/>
            <a:ext cx="502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3258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1325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  <a:latin typeface="Calibri"/>
              </a:rPr>
              <a:t>Experimental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15819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Accuracy, sensitivity, AUC, F1-score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240280"/>
            <a:ext cx="502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22402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2402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  <a:latin typeface="Calibri"/>
              </a:rPr>
              <a:t>Complexity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Parameters, inference time, trade-offs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154680"/>
            <a:ext cx="502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1546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154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  <a:latin typeface="Calibri"/>
              </a:rPr>
              <a:t>Medical Interpretation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4107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Clinical meaning of metrics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069080"/>
            <a:ext cx="502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40690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0690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  <a:latin typeface="Calibri"/>
              </a:rPr>
              <a:t>Explainability (Grad-CAM)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325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Visual decision interpretation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83480"/>
            <a:ext cx="502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49834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9834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2395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Findings and recommendations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1280160"/>
            <a:ext cx="36576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480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Problem Motivation &amp; Research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6E4F7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4F8A"/>
                </a:solidFill>
                <a:latin typeface="Calibri"/>
              </a:rPr>
              <a:t>Clinical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39" y="1709928"/>
            <a:ext cx="6424889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🔹 Pneumonia kills ~2.5 million people annually worldwide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🔹 Early, accurate diagnosis is critical for patient survival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🔹 Manual radiograph interpretation is slow and prone to inter-observer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variability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🔹 Shortage of specialist radiologists in low-resource settings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🔹 Deep learning can automate and accelerate chest X-ray diagnosis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42652" y="1325880"/>
            <a:ext cx="27432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9812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4F8A"/>
                </a:solidFill>
                <a:latin typeface="Calibri"/>
              </a:rPr>
              <a:t>Objective &amp;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9812" y="1709928"/>
            <a:ext cx="539496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Research Objective: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Evaluate and compare three CNN architectures (VGG16, VGG19,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EfficientNetB0) for binary pneumonia classification using transfer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learning on chest X-ray images.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4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Why CNNs &amp; Transfer Learning?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CNNs excel at hierarchical feature extraction from images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Transfer learning overcomes limited labeled medical data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ImageNet pre-training provides strong low-level feature priors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Enables high performance with fewer training samples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D6E4F7"/>
                </a:solidFill>
                <a:latin typeface="Calibri"/>
              </a:rPr>
              <a:t>Chest X-Ray Images (Kaggle / Guangzhou Women and Children's Medical Center)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6E4F7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5543" y="13258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A4F8A"/>
                </a:solidFill>
                <a:latin typeface="Calibri"/>
              </a:rPr>
              <a:t>Sample Dataset Images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5543" y="1691639"/>
            <a:ext cx="7327961" cy="2270763"/>
          </a:xfrm>
          <a:prstGeom prst="rect">
            <a:avLst/>
          </a:prstGeom>
          <a:solidFill>
            <a:srgbClr val="CCE5FF"/>
          </a:solidFill>
          <a:ln w="19050">
            <a:solidFill>
              <a:srgbClr val="1A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5543" y="40690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A4F8A"/>
                </a:solidFill>
                <a:latin typeface="Calibri"/>
              </a:rPr>
              <a:t>Class 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5543" y="4434840"/>
            <a:ext cx="7327961" cy="2084832"/>
          </a:xfrm>
          <a:prstGeom prst="rect">
            <a:avLst/>
          </a:prstGeom>
          <a:solidFill>
            <a:srgbClr val="CCE5FF"/>
          </a:solidFill>
          <a:ln w="19050">
            <a:solidFill>
              <a:srgbClr val="1A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581912"/>
            <a:ext cx="4061758" cy="4255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Source: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Kaggle — Chest X-Ray Images (Pneumonia)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Guangzhou Women and Children's Medical Center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Classes: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NORMAL  — Healthy chest X-rays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PNEUMONIA — Bacterial &amp; viral pneumonia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Data Splits: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Training set:   ~5,216 images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Validation set: ~16 images (original) → augmented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Test set:       624 images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Class Imbalance: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~74% PNEUMONIA / ~26% NORMAL in training set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Addressed via class-weighted loss &amp; augmentation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4816" y="1280160"/>
            <a:ext cx="36576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497D57-A79C-2559-1656-D3BEF9AF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269" y="1809024"/>
            <a:ext cx="7090217" cy="19857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8690214-EAAF-156D-863D-A7141EA1A9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939"/>
          <a:stretch/>
        </p:blipFill>
        <p:spPr>
          <a:xfrm>
            <a:off x="5870159" y="4541517"/>
            <a:ext cx="4998727" cy="18749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342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Preprocessing &amp; Data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Pipeline Design and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6E4F7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Preprocessing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539496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Training Augmentation Pipeline: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Resize all images to 224 × 224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px</a:t>
            </a:r>
            <a:endParaRPr sz="14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Random horizontal flip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Random rotation (±15°)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Width &amp; height shift (±10%)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Shear transformation (±10%)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Zoom range (±10%)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Normalization: mean subtraction per ImageNet channel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4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Validation &amp; Test Preprocessing: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Resize to 224 × 224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px</a:t>
            </a:r>
            <a:endParaRPr sz="14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ImageNet mean/std normalization only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No augmentation applied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325880"/>
            <a:ext cx="27432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Reproducibility &amp; Rationale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09928"/>
            <a:ext cx="5394960" cy="3039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Reproducibility Settings: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All random seeds fixed to 42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(NumPy, Python, TensorFlow,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Keras</a:t>
            </a:r>
            <a:r>
              <a:rPr sz="1400" dirty="0">
                <a:solidFill>
                  <a:srgbClr val="1A1A2E"/>
                </a:solidFill>
                <a:latin typeface="Calibri"/>
              </a:rPr>
              <a:t>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Deterministic data loading order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GPU determinism enabled where supported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4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Design Rationale: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Augmentation combats class imbalance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Simulates real-world X-ray variation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(patient positioning, scanner differences)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Prevents overfitting on small dataset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Consistent preprocessing ensures fair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model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800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Model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VGG16 · VGG19 · EfficientNetB0 with Unified Classification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6E4F7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749039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VGG16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4425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D6E4F7"/>
                </a:solidFill>
                <a:latin typeface="Calibri"/>
              </a:rPr>
              <a:t>14.86 M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3566159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13 convolutional layers (3×3 filters)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5 max-pooling layers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3 fully-connected layers (frozen)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ReLU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activations throughout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Consistent, simple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80160"/>
            <a:ext cx="3749039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12801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VGG19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54425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  <a:latin typeface="Calibri"/>
              </a:rPr>
              <a:t>20.17 M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1" y="1874519"/>
            <a:ext cx="3657598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16 convolutional layers (3×3 filters)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5 max-pooling layers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3 fully-connected layers (frozen)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Deeper than VGG16; more representational power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Higher memory &amp; computation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280160"/>
            <a:ext cx="3749039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12801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EfficientNetB0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54425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  <a:latin typeface="Calibri"/>
              </a:rPr>
              <a:t>4.40 M params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874519"/>
            <a:ext cx="3566158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Compound scaling (depth/width/resolution)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MBConv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blocks with Squeeze-and-Excitation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Significantly fewer parameters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Designed for efficiency on standard benchmarks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• Sensitive to hyperparameter tuning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87551"/>
            <a:ext cx="116128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40789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4F8A"/>
                </a:solidFill>
                <a:latin typeface="Calibri"/>
              </a:rPr>
              <a:t>Unified Classification Head (all models):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078991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Global Average Pooling  →  Dense(256, ReLU)  →  Dropout(0.5)  →  Dense(1, Sigmoid)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90471"/>
            <a:ext cx="11612880" cy="3657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4581911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7"/>
                </a:solidFill>
                <a:latin typeface="Calibri"/>
              </a:rPr>
              <a:t>Key Difference: VGG models use sequential stacking of uniform 3×3 convolutions; EfficientNetB0 uses compound scaling with inverted residual blocks — optimized for compute efficiency but requiring careful tuning.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9202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Training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Two-Phase Transfer Learning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6E4F7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Transfer Learning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5559552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Phase 1 — Feature Extraction: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Freeze all pre-trained (ImageNet) base layers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Train only the custom classification head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Optimizer: Adam  |  LR: 1e-3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Loss: Binary Cross-Entropy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Epochs: 20  |  Batch size: 32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Allows head to converge without disturbing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learned feature representations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Phase 2 — Fine-Tuning: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Unfreeze top N layers of base model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End-to-end training with smaller LR: 1e-5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Epochs: 20  |  Batch size: 32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Allows domain adaptation to chest X-rays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325880"/>
            <a:ext cx="27432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Optimizer, Callbacks &amp;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09928"/>
            <a:ext cx="5394960" cy="4255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Optimizer &amp; Loss: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Adam optimizer with weight decay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Binary cross-entropy loss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Class weights applied for imbalance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Callbacks Used: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ModelCheckpoint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— save best weights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EarlyStopping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— patience=10 on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val_loss</a:t>
            </a: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ReduceLROnPlateau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— reduce LR on plateau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TensorBoard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logging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Common Hyperparameters: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Input size: 224 × 224 × 3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Batch size: 32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Random seed: 42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Validation split: stratified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74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Training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Loss and Accuracy over Epochs — All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6E4F7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solidFill>
            <a:srgbClr val="CCE5FF"/>
          </a:solidFill>
          <a:ln w="19050">
            <a:solidFill>
              <a:srgbClr val="1A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31334A-7F94-8954-6B7D-CE7ABF06F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269" y="1427829"/>
            <a:ext cx="7796981" cy="48253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73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Test Set Performance — All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6E4F7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338863"/>
              </p:ext>
            </p:extLst>
          </p:nvPr>
        </p:nvGraphicFramePr>
        <p:xfrm>
          <a:off x="1410871" y="1197864"/>
          <a:ext cx="9367081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5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53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3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7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12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 (M)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Infer. (ms)</a:t>
                      </a:r>
                    </a:p>
                  </a:txBody>
                  <a:tcPr>
                    <a:solidFill>
                      <a:srgbClr val="0D2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VGG16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89.74%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98.21%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75.64%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87.05%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92.29%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0.968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14.86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19.93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VGG19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84.46%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77.95%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95.30%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96.51%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86.24%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20.17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14.47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EfficientNetB0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62.50%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62.50%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76.92%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0.658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4.40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10.23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3162005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A2E"/>
                </a:solidFill>
                <a:latin typeface="Calibri"/>
              </a:rPr>
              <a:t>✅ Best overall performer — highest accuracy, sensitivity, and F1-score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36325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4F8A"/>
                </a:solidFill>
                <a:latin typeface="Calibri"/>
              </a:rPr>
              <a:t>🔷 Best specificity &amp; precision — superior at ruling out false positives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710645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0392B"/>
                </a:solidFill>
                <a:latin typeface="Calibri"/>
              </a:rPr>
              <a:t>⚠️ Collapsed classifier — predicted all samples as PNEUMONIA (specificity = 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78994" y="3218688"/>
            <a:ext cx="4071046" cy="3300984"/>
          </a:xfrm>
          <a:prstGeom prst="rect">
            <a:avLst/>
          </a:prstGeom>
          <a:solidFill>
            <a:srgbClr val="CCE5FF"/>
          </a:solidFill>
          <a:ln w="19050">
            <a:solidFill>
              <a:srgbClr val="1A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F06500F-D284-B2E8-C901-034CBA77A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934" y="3337628"/>
            <a:ext cx="3507166" cy="305395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74320" y="4158701"/>
            <a:ext cx="7122734" cy="2306107"/>
          </a:xfrm>
          <a:prstGeom prst="rect">
            <a:avLst/>
          </a:prstGeom>
          <a:solidFill>
            <a:srgbClr val="CCE5FF"/>
          </a:solidFill>
          <a:ln w="19050">
            <a:solidFill>
              <a:srgbClr val="1A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E7D90F-01F6-2DCE-378A-9D0C4F6BD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272067"/>
            <a:ext cx="6850831" cy="20830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Performance Metrics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Visual Comparison Across All Models and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6E4F7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solidFill>
            <a:srgbClr val="CCE5FF"/>
          </a:solidFill>
          <a:ln w="19050">
            <a:solidFill>
              <a:srgbClr val="1A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C2E1AC-03BB-D0DD-D284-74963839E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12" y="1418178"/>
            <a:ext cx="9783096" cy="48446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Model Complexity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D6E4F7"/>
                </a:solidFill>
                <a:latin typeface="Calibri"/>
              </a:rPr>
              <a:t>Parameters, Inference Time, and Accuracy–Efficiency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6E4F7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Complexity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5394960" cy="319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Complexity Metrics (Test Set):</a:t>
            </a:r>
            <a:endParaRPr lang="en-US" sz="1300" b="1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en-US" sz="1300" b="1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en-US" sz="1300" b="1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en-US" sz="1300" b="1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en-US" sz="1300" b="1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300" b="1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Key Observations: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EfficientNetB0 is 3.4× smaller than VGG16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EfficientNetB0 is 2× faster than VGG16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VGG19 is largest but not slowest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VGG16 provides the best accuracy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per unit of computation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19" y="1325880"/>
            <a:ext cx="45719" cy="3582359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Trade-off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09928"/>
            <a:ext cx="5394960" cy="313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Accuracy–Efficiency Trade-off: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EfficientNetB0 offers best efficiency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but completely fails (collapsed classifier)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VGG19 is more expensive with lower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overall accuracy than VGG16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VGG16 strikes the best balance: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89.74% accuracy at moderate cost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Why EfficientNetB0 Failed?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Architecture requires careful LR tuning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Batch normalization sensitive to small batches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May need different augmentation strategy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Compound scaling less robust to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domain-specific medical imaging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Requires deeper hyperparameter search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D74D34D-8A73-8953-327D-90962D2EB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324933"/>
              </p:ext>
            </p:extLst>
          </p:nvPr>
        </p:nvGraphicFramePr>
        <p:xfrm>
          <a:off x="768649" y="2138058"/>
          <a:ext cx="4497741" cy="1313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553">
                  <a:extLst>
                    <a:ext uri="{9D8B030D-6E8A-4147-A177-3AD203B41FA5}">
                      <a16:colId xmlns:a16="http://schemas.microsoft.com/office/drawing/2014/main" val="1208022115"/>
                    </a:ext>
                  </a:extLst>
                </a:gridCol>
                <a:gridCol w="1361941">
                  <a:extLst>
                    <a:ext uri="{9D8B030D-6E8A-4147-A177-3AD203B41FA5}">
                      <a16:colId xmlns:a16="http://schemas.microsoft.com/office/drawing/2014/main" val="103729019"/>
                    </a:ext>
                  </a:extLst>
                </a:gridCol>
                <a:gridCol w="1499247">
                  <a:extLst>
                    <a:ext uri="{9D8B030D-6E8A-4147-A177-3AD203B41FA5}">
                      <a16:colId xmlns:a16="http://schemas.microsoft.com/office/drawing/2014/main" val="3583857193"/>
                    </a:ext>
                  </a:extLst>
                </a:gridCol>
              </a:tblGrid>
              <a:tr h="3284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830992"/>
                  </a:ext>
                </a:extLst>
              </a:tr>
              <a:tr h="3284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VGG16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19.93 </a:t>
                      </a:r>
                      <a:r>
                        <a:rPr lang="en-US" sz="1400" dirty="0" err="1"/>
                        <a:t>ms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83087"/>
                  </a:ext>
                </a:extLst>
              </a:tr>
              <a:tr h="3284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VGG19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20.17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14.47 </a:t>
                      </a:r>
                      <a:r>
                        <a:rPr lang="en-US" sz="1400" dirty="0" err="1"/>
                        <a:t>ms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007540"/>
                  </a:ext>
                </a:extLst>
              </a:tr>
              <a:tr h="3284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EfficientNetB0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4.4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10.23 </a:t>
                      </a:r>
                      <a:r>
                        <a:rPr lang="en-US" sz="1400" dirty="0" err="1"/>
                        <a:t>ms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4715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7452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Model Complexity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D6E4F7"/>
                </a:solidFill>
                <a:latin typeface="Calibri"/>
              </a:rPr>
              <a:t>Parameters, Inference Time, and Accuracy–Efficiency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00" b="0" i="0" dirty="0">
                <a:solidFill>
                  <a:srgbClr val="D6E4F7"/>
                </a:solidFill>
                <a:latin typeface="Calibri"/>
              </a:rPr>
              <a:t>12</a:t>
            </a:r>
            <a:endParaRPr sz="1300" b="0" i="0" dirty="0">
              <a:solidFill>
                <a:srgbClr val="D6E4F7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solidFill>
            <a:srgbClr val="CCE5FF"/>
          </a:solidFill>
          <a:ln w="19050">
            <a:solidFill>
              <a:srgbClr val="1A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AD138B-06A4-8986-8ED1-B0ABE7C28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04" y="1774029"/>
            <a:ext cx="10786816" cy="413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15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Medical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Clinical Significance of 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00" b="0" i="0" dirty="0">
                <a:solidFill>
                  <a:srgbClr val="D6E4F7"/>
                </a:solidFill>
                <a:latin typeface="Calibri"/>
              </a:rPr>
              <a:t>13</a:t>
            </a:r>
            <a:endParaRPr sz="1300" b="0" i="0" dirty="0">
              <a:solidFill>
                <a:srgbClr val="D6E4F7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Sensitivity vs. Specificity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5394960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Sensitivity (Recall for PNEUMONIA):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Probability of correctly identifying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a sick patient as PNEUMONIA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High sensitivity → fewer missed diagnoses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Critical for screening tools where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missing a case is dangerous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→ VGG16 achieves 98.21% sensitivity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Specificity (Recall for NORMAL):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Probability of correctly identifying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a healthy patient as NORMAL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High specificity → fewer false alarms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Important to avoid unnecessary treatment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→ VGG19 achieves 95.30% specificity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325880"/>
            <a:ext cx="27432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Clinical Model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709928"/>
            <a:ext cx="5742305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VGG16 — Best Overall Model: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98.21% sensitivity ensures pneumonia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cases are rarely missed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89.74% accuracy with strong AUC (0.968)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Best candidate for clinical screening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en-US"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VGG19 — Best for Ruling Out Disease: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95.30% specificity reduces false positives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96.51% precision — very reliable positives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Useful when confirmation testing is costly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en-US"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EfficientNetB0 — Clinically Unsafe: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0% specificity: every normal case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classified as PNEUMONIA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Not suitable for deployment without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complete retraining &amp; tuning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Explainability — Grad-CAM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Gradient-weighted Class Activation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00" b="0" i="0" dirty="0">
                <a:solidFill>
                  <a:srgbClr val="D6E4F7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322" y="1325880"/>
            <a:ext cx="3345858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What is Grad-CAM?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Gradient-weighted Class Activation Mapping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(Grad-CAM) visualizes which regions of an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input image were most important for the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model's classification decision.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How it Works: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Compute gradients of the class score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 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w.r.t.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the last convolutional feature maps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Weight feature maps by global-average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  pooled gradients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Produce a coarse localization heatmap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Overlay heatmap on original X-ray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Why It Matters in Medical AI: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Provides interpretable evidence for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  model decisions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Helps radiologists verify model focus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Builds clinical trust and accountability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• Reveals pathological lung regions</a:t>
            </a:r>
          </a:p>
          <a:p>
            <a:pPr algn="just">
              <a:spcBef>
                <a:spcPts val="300"/>
              </a:spcBef>
              <a:spcAft>
                <a:spcPts val="200"/>
              </a:spcAft>
            </a:pPr>
            <a:r>
              <a:rPr sz="1300" dirty="0">
                <a:solidFill>
                  <a:srgbClr val="1A1A2E"/>
                </a:solidFill>
                <a:latin typeface="Calibri"/>
              </a:rPr>
              <a:t>    highlighted by the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78919" y="1280160"/>
            <a:ext cx="36576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25222" y="1280160"/>
            <a:ext cx="8308282" cy="5239512"/>
          </a:xfrm>
          <a:prstGeom prst="rect">
            <a:avLst/>
          </a:prstGeom>
          <a:solidFill>
            <a:srgbClr val="CCE5FF"/>
          </a:solidFill>
          <a:ln w="19050">
            <a:solidFill>
              <a:srgbClr val="1A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2C1C8B-364A-02D6-640A-57E146AE1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265" y="1383863"/>
            <a:ext cx="7860196" cy="50321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93095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Key Findings and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11480"/>
            <a:ext cx="640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00" b="0" i="0" dirty="0">
                <a:solidFill>
                  <a:srgbClr val="D6E4F7"/>
                </a:solidFill>
                <a:latin typeface="Calibri"/>
              </a:rPr>
              <a:t>15</a:t>
            </a:r>
            <a:endParaRPr sz="1300" b="0" i="0" dirty="0">
              <a:solidFill>
                <a:srgbClr val="D6E4F7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7"/>
                </a:solidFill>
                <a:latin typeface="Calibri"/>
              </a:rPr>
              <a:t>Chest X-Ray Pneumonia Classification | Manara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Summary of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5394960" cy="2782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Main Findings: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1. VGG16 achieved the best overall balance: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89.74% accuracy, 98.21% sensitivity,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AUC = 0.968 — recommended for deployment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2. VGG19 excels in specificity (95.30%)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and precision (96.51%) — suitable when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minimizing false positives is the priority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3. EfficientNetB0 collapsed to predicting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only PNEUMONIA — specificity = 0%,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rendering it clinically unusable under the current training setup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4. Transfer learning from ImageNet enables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strong performance on limited medical data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5. Grad-CAM confirms models focus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onclinically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relevant lung regions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325880"/>
            <a:ext cx="27432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Future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709928"/>
            <a:ext cx="5742305" cy="2480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Future Work: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Retrain EfficientNetB0 with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dedicatedLR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scheduling and class-rebalancing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Explore EfficientNetB3/B4 orResNet50/DenseNet121 for comparison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Apply attention mechanisms and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Vision Transformers (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ViT</a:t>
            </a:r>
            <a:r>
              <a:rPr sz="1400" dirty="0">
                <a:solidFill>
                  <a:srgbClr val="1A1A2E"/>
                </a:solidFill>
                <a:latin typeface="Calibri"/>
              </a:rPr>
              <a:t>) for medical imaging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Extend to multi-class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classification:Bacterial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vs. Viral vs. Normal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Clinical validation on external datasets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(e.g.,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CheXpert</a:t>
            </a:r>
            <a:r>
              <a:rPr sz="1400" dirty="0">
                <a:solidFill>
                  <a:srgbClr val="1A1A2E"/>
                </a:solidFill>
                <a:latin typeface="Calibri"/>
              </a:rPr>
              <a:t>, NIH ChestX-ray14)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Deploy as a web-based diagnostic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assistance tool for radiologists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Federated learning for privacy-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preservingmulti</a:t>
            </a:r>
            <a:r>
              <a:rPr sz="1400" dirty="0">
                <a:solidFill>
                  <a:srgbClr val="1A1A2E"/>
                </a:solidFill>
                <a:latin typeface="Calibri"/>
              </a:rPr>
              <a:t>-hospital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C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8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7"/>
                </a:solidFill>
                <a:latin typeface="Calibri"/>
              </a:rPr>
              <a:t>Manara University  ·  Department of Robotics and Intelligent Systems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64592" cy="6355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D6E4F7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429000"/>
            <a:ext cx="75895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7FB3D3"/>
                </a:solidFill>
                <a:latin typeface="Calibri"/>
              </a:rPr>
              <a:t>Project Repository: </a:t>
            </a:r>
            <a:r>
              <a:rPr lang="en-US" sz="1400" b="0" i="0" dirty="0">
                <a:solidFill>
                  <a:srgbClr val="7FB3D3"/>
                </a:solidFill>
                <a:latin typeface="Calibri"/>
              </a:rPr>
              <a:t>https://github.com/ZainAlabidinShbani/ml-ai-projects/tree/main/ChestXRay_Pneumonia</a:t>
            </a:r>
            <a:endParaRPr sz="1400" b="0" i="0" dirty="0">
              <a:solidFill>
                <a:srgbClr val="7FB3D3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bg1"/>
                </a:solidFill>
                <a:latin typeface="+mj-lt"/>
              </a:rPr>
              <a:t>Zain Alabidin Shbani  ·  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Lana Al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Wazzeh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400" b="0" i="0" dirty="0">
                <a:solidFill>
                  <a:schemeClr val="bg1"/>
                </a:solidFill>
                <a:latin typeface="+mj-lt"/>
              </a:rPr>
              <a:t>·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Beilassan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Hdewa</a:t>
            </a:r>
            <a:endParaRPr lang="en-US" sz="1400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577"/>
                </a:solidFill>
                <a:latin typeface="Calibri"/>
              </a:rPr>
              <a:t>Deep Learning Course  ·  Manara University  ·  2025–2026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1913</Words>
  <Application>Microsoft Office PowerPoint</Application>
  <PresentationFormat>Custom</PresentationFormat>
  <Paragraphs>352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Zain Al-Abidin Shbani</cp:lastModifiedBy>
  <cp:revision>33</cp:revision>
  <dcterms:created xsi:type="dcterms:W3CDTF">2013-01-27T09:14:16Z</dcterms:created>
  <dcterms:modified xsi:type="dcterms:W3CDTF">2026-06-01T13:01:40Z</dcterms:modified>
  <cp:category/>
</cp:coreProperties>
</file>