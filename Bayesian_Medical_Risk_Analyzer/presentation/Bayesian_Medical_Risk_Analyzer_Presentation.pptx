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4" r:id="rId10"/>
    <p:sldId id="264" r:id="rId11"/>
    <p:sldId id="270" r:id="rId12"/>
    <p:sldId id="271" r:id="rId13"/>
    <p:sldId id="272" r:id="rId14"/>
    <p:sldId id="27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37160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Bayesian Medical Risk Analyzer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697480"/>
            <a:ext cx="6400800" cy="54864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21031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rgbClr val="5BB8FF"/>
                </a:solidFill>
                <a:latin typeface="Calibri"/>
              </a:rPr>
              <a:t>Probabilistic Medical Diagnosis Using Bayesian Inference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840480"/>
            <a:ext cx="8686800" cy="1737360"/>
          </a:xfrm>
          <a:prstGeom prst="rect">
            <a:avLst/>
          </a:prstGeom>
          <a:solidFill>
            <a:srgbClr val="14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393192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Authors:   Beilassan Hdewa  |  Lana Alwazzeh  |  Zain Alabidin Shbani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33672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Supervisor:  Dr. Eng. Mohammad Mashi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35424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Course:   Machine Learning — Practical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837176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Institution:  Manara University, Dept. of Robotics &amp; Intelligent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138928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CCD6E8"/>
                </a:solidFill>
                <a:latin typeface="Calibri"/>
              </a:rPr>
              <a:t>Date:   2026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864D930-03FA-D959-65C2-2C673FA26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0664" y="232750"/>
            <a:ext cx="847936" cy="11887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71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BB8FF"/>
                </a:solidFill>
                <a:latin typeface="Calibri"/>
              </a:rPr>
              <a:t>Why probabilistic diagnosis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600"/>
              </a:spcBef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• Traditional ML models output deterministic class labels — no uncertainty estimate</a:t>
            </a:r>
          </a:p>
          <a:p>
            <a:pPr algn="l">
              <a:spcBef>
                <a:spcPts val="1600"/>
              </a:spcBef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• Medical decisions require confidence levels, not just yes/no predictions</a:t>
            </a:r>
          </a:p>
          <a:p>
            <a:pPr algn="l">
              <a:spcBef>
                <a:spcPts val="1600"/>
              </a:spcBef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• Risk of missed diagnoses when the model is uncalibrated or overconfident</a:t>
            </a:r>
          </a:p>
          <a:p>
            <a:pPr algn="l">
              <a:spcBef>
                <a:spcPts val="1600"/>
              </a:spcBef>
            </a:pPr>
            <a:r>
              <a:rPr sz="2000" b="0" dirty="0">
                <a:solidFill>
                  <a:srgbClr val="FFFFFF"/>
                </a:solidFill>
                <a:latin typeface="Calibri"/>
              </a:rPr>
              <a:t>• Goal: Build a system that outputs probability distributions over diagnoses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212080"/>
            <a:ext cx="11247120" cy="7315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5394960"/>
            <a:ext cx="109728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 dirty="0">
                <a:solidFill>
                  <a:srgbClr val="FFFFFF"/>
                </a:solidFill>
                <a:latin typeface="Calibri"/>
              </a:rPr>
              <a:t>Output: P(Disease | </a:t>
            </a:r>
            <a:r>
              <a:rPr sz="1700" b="1" i="0" dirty="0" err="1">
                <a:solidFill>
                  <a:srgbClr val="FFFFFF"/>
                </a:solidFill>
                <a:latin typeface="Calibri"/>
              </a:rPr>
              <a:t>Patient_Data</a:t>
            </a:r>
            <a:r>
              <a:rPr sz="1700" b="1" i="0" dirty="0">
                <a:solidFill>
                  <a:srgbClr val="FFFFFF"/>
                </a:solidFill>
                <a:latin typeface="Calibri"/>
              </a:rPr>
              <a:t>)  — a calibrated posterior probability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822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 dirty="0">
                <a:solidFill>
                  <a:srgbClr val="CCD6E8"/>
                </a:solidFill>
                <a:latin typeface="Calibri"/>
              </a:rPr>
              <a:t>2 / </a:t>
            </a:r>
            <a:r>
              <a:rPr lang="en-US" sz="1100" b="0" i="0" dirty="0">
                <a:solidFill>
                  <a:srgbClr val="CCD6E8"/>
                </a:solidFill>
                <a:latin typeface="Calibri"/>
              </a:rPr>
              <a:t>14</a:t>
            </a:r>
            <a:endParaRPr sz="1100" b="0" i="0" dirty="0">
              <a:solidFill>
                <a:srgbClr val="CCD6E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71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Theoretical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BB8FF"/>
                </a:solidFill>
                <a:latin typeface="Calibri"/>
              </a:rPr>
              <a:t>Gaussian Naïve Bayes from first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914400"/>
          </a:xfrm>
          <a:prstGeom prst="rect">
            <a:avLst/>
          </a:prstGeom>
          <a:solidFill>
            <a:srgbClr val="14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 dirty="0">
                <a:solidFill>
                  <a:srgbClr val="FFD700"/>
                </a:solidFill>
                <a:latin typeface="Calibri"/>
              </a:rPr>
              <a:t>P(c | x)  ∝  P(c)  ×  ∏ᵢ P(xᵢ | 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• Prior P(c) — initial class probability; estimated from training frequency or set manually</a:t>
            </a:r>
          </a:p>
          <a:p>
            <a:pPr algn="l">
              <a:spcBef>
                <a:spcPts val="14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• Likelihood P(xᵢ | c) — Gaussian PDF per feature: P(xᵢ|c) = N(μᵢ,c , σ²ᵢ,c)</a:t>
            </a:r>
          </a:p>
          <a:p>
            <a:pPr algn="l">
              <a:spcBef>
                <a:spcPts val="14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• Posterior P(c|x) — updated belief after observing patient measurements</a:t>
            </a:r>
          </a:p>
          <a:p>
            <a:pPr algn="l">
              <a:spcBef>
                <a:spcPts val="1400"/>
              </a:spcBef>
            </a:pPr>
            <a:r>
              <a:rPr sz="1800" b="0">
                <a:solidFill>
                  <a:srgbClr val="FFFFFF"/>
                </a:solidFill>
                <a:latin typeface="Calibri"/>
              </a:rPr>
              <a:t>• Log-space inference — prevents numeric underflow; log-sum-exp trick for normalization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035040"/>
            <a:ext cx="11247120" cy="50292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 dirty="0">
                <a:solidFill>
                  <a:srgbClr val="5BB8FF"/>
                </a:solidFill>
                <a:latin typeface="Calibri"/>
              </a:rPr>
              <a:t>Variance smoothing:  σ²ᵢ,c  ←  σ²ᵢ,c + ε    where  ε = λ · max(σ²)   [Laplace-style regularization]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92240"/>
            <a:ext cx="822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 dirty="0">
                <a:solidFill>
                  <a:srgbClr val="CCD6E8"/>
                </a:solidFill>
                <a:latin typeface="Calibri"/>
              </a:rPr>
              <a:t>3 / </a:t>
            </a:r>
            <a:r>
              <a:rPr lang="en-US" sz="1100" b="0" i="0" dirty="0">
                <a:solidFill>
                  <a:srgbClr val="CCD6E8"/>
                </a:solidFill>
                <a:latin typeface="Calibri"/>
              </a:rPr>
              <a:t>14</a:t>
            </a:r>
            <a:endParaRPr sz="1100" b="0" i="0" dirty="0">
              <a:solidFill>
                <a:srgbClr val="CCD6E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71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BB8FF"/>
                </a:solidFill>
                <a:latin typeface="Calibri"/>
              </a:rPr>
              <a:t>Single-file WinForms application — clean layered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560320" cy="1097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726316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Data Loader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35808" y="178308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6FEB"/>
                </a:solidFill>
                <a:latin typeface="Calibri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463040"/>
            <a:ext cx="2560320" cy="1097280"/>
          </a:xfrm>
          <a:prstGeom prst="rect">
            <a:avLst/>
          </a:prstGeom>
          <a:solidFill>
            <a:srgbClr val="0D52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0" y="1658511"/>
            <a:ext cx="25603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Preprocessor</a:t>
            </a:r>
            <a:r>
              <a:rPr lang="en-US"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&amp; Validator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61888" y="178308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6FEB"/>
                </a:solidFill>
                <a:latin typeface="Calibr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463040"/>
            <a:ext cx="2560320" cy="1097280"/>
          </a:xfrm>
          <a:prstGeom prst="rect">
            <a:avLst/>
          </a:prstGeom>
          <a:solidFill>
            <a:srgbClr val="07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60" y="1726763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Bayesian</a:t>
            </a:r>
            <a:r>
              <a:rPr lang="en-US" sz="2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2000" b="1" i="0" dirty="0">
                <a:solidFill>
                  <a:srgbClr val="FFFFFF"/>
                </a:solidFill>
                <a:latin typeface="Calibri"/>
              </a:rPr>
              <a:t>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87968" y="1783080"/>
            <a:ext cx="347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F6FEB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463040"/>
            <a:ext cx="2560320" cy="10972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235440" y="1772036"/>
            <a:ext cx="2560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Calibri"/>
              </a:rPr>
              <a:t>UI / Charts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926080"/>
            <a:ext cx="2560320" cy="685800"/>
          </a:xfrm>
          <a:prstGeom prst="rect">
            <a:avLst/>
          </a:prstGeom>
          <a:solidFill>
            <a:srgbClr val="14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069306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5BB8FF"/>
                </a:solidFill>
                <a:latin typeface="Calibri"/>
              </a:rPr>
              <a:t>Training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2926080"/>
            <a:ext cx="2560320" cy="685800"/>
          </a:xfrm>
          <a:prstGeom prst="rect">
            <a:avLst/>
          </a:prstGeom>
          <a:solidFill>
            <a:srgbClr val="14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383280" y="3089799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5BB8FF"/>
                </a:solidFill>
                <a:latin typeface="Calibri"/>
              </a:rPr>
              <a:t>Model Lab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926080"/>
            <a:ext cx="2560320" cy="685800"/>
          </a:xfrm>
          <a:prstGeom prst="rect">
            <a:avLst/>
          </a:prstGeom>
          <a:solidFill>
            <a:srgbClr val="14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09360" y="3073479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5BB8FF"/>
                </a:solidFill>
                <a:latin typeface="Calibri"/>
              </a:rPr>
              <a:t>Inference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35440" y="2926080"/>
            <a:ext cx="2560320" cy="685800"/>
          </a:xfrm>
          <a:prstGeom prst="rect">
            <a:avLst/>
          </a:prstGeom>
          <a:solidFill>
            <a:srgbClr val="14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35440" y="3090038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 dirty="0">
                <a:solidFill>
                  <a:srgbClr val="5BB8FF"/>
                </a:solidFill>
                <a:latin typeface="Calibri"/>
              </a:rPr>
              <a:t>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605909"/>
            <a:ext cx="365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CCD6E8"/>
                </a:solidFill>
                <a:latin typeface="Calibri"/>
              </a:rPr>
              <a:t>Application Tabs: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84048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400"/>
              </a:spcBef>
            </a:pPr>
            <a:r>
              <a:rPr sz="1700" b="0">
                <a:solidFill>
                  <a:srgbClr val="FFFFFF"/>
                </a:solidFill>
                <a:latin typeface="Calibri"/>
              </a:rPr>
              <a:t>• C# .NET Framework 4.0 — no external ML library; GNB from scratch</a:t>
            </a:r>
          </a:p>
          <a:p>
            <a:pPr algn="l">
              <a:spcBef>
                <a:spcPts val="1400"/>
              </a:spcBef>
            </a:pPr>
            <a:r>
              <a:rPr sz="1700" b="0">
                <a:solidFill>
                  <a:srgbClr val="FFFFFF"/>
                </a:solidFill>
                <a:latin typeface="Calibri"/>
              </a:rPr>
              <a:t>• 11 classes in a single source file (BayesianAnalyzer.cs)</a:t>
            </a:r>
          </a:p>
          <a:p>
            <a:pPr algn="l">
              <a:spcBef>
                <a:spcPts val="1400"/>
              </a:spcBef>
            </a:pPr>
            <a:r>
              <a:rPr sz="1700" b="0">
                <a:solidFill>
                  <a:srgbClr val="FFFFFF"/>
                </a:solidFill>
                <a:latin typeface="Calibri"/>
              </a:rPr>
              <a:t>• Local dataset-based training — CSV import/export, .mdl model persistence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92240"/>
            <a:ext cx="822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 dirty="0">
                <a:solidFill>
                  <a:srgbClr val="CCD6E8"/>
                </a:solidFill>
                <a:latin typeface="Calibri"/>
              </a:rPr>
              <a:t>4 / </a:t>
            </a:r>
            <a:r>
              <a:rPr lang="en-US" sz="1100" b="0" i="0" dirty="0">
                <a:solidFill>
                  <a:srgbClr val="CCD6E8"/>
                </a:solidFill>
                <a:latin typeface="Calibri"/>
              </a:rPr>
              <a:t>14</a:t>
            </a:r>
            <a:endParaRPr sz="1100" b="0" i="0" dirty="0">
              <a:solidFill>
                <a:srgbClr val="CCD6E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71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Dataset &amp;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BB8FF"/>
                </a:solidFill>
                <a:latin typeface="Calibri"/>
              </a:rPr>
              <a:t>Four clinical features, binary classification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1247120" cy="41148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4813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CSV Column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4813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Typical Range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148132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Clinical Meaning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11247120" cy="457200"/>
          </a:xfrm>
          <a:prstGeom prst="rect">
            <a:avLst/>
          </a:prstGeom>
          <a:solidFill>
            <a:srgbClr val="14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Fasting Glucose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9659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Glucose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19659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50–300 mg/dL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9659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Blood sugar level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395728"/>
            <a:ext cx="11247120" cy="457200"/>
          </a:xfrm>
          <a:prstGeom prst="rect">
            <a:avLst/>
          </a:prstGeom>
          <a:solidFill>
            <a:srgbClr val="10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4414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4414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4414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18–90 years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4414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Patient 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71216"/>
            <a:ext cx="11247120" cy="457200"/>
          </a:xfrm>
          <a:prstGeom prst="rect">
            <a:avLst/>
          </a:prstGeom>
          <a:solidFill>
            <a:srgbClr val="14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291693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BMI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91693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BMI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91693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15–50 kg/m²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91693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Body-mass index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346704"/>
            <a:ext cx="11247120" cy="457200"/>
          </a:xfrm>
          <a:prstGeom prst="rect">
            <a:avLst/>
          </a:prstGeom>
          <a:solidFill>
            <a:srgbClr val="10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339242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Blood Pressure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339242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BloodPressure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39242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80–200 mmHg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0" y="339242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Systolic BP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822191"/>
            <a:ext cx="11247120" cy="457200"/>
          </a:xfrm>
          <a:prstGeom prst="rect">
            <a:avLst/>
          </a:prstGeom>
          <a:solidFill>
            <a:srgbClr val="14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3867911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Class Label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3867911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3867911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Healthy / Patient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867911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Binary diagnosis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434840"/>
            <a:ext cx="11247120" cy="594360"/>
          </a:xfrm>
          <a:prstGeom prst="rect">
            <a:avLst/>
          </a:prstGeom>
          <a:solidFill>
            <a:srgbClr val="071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" y="4462272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4EC98A"/>
                </a:solidFill>
                <a:latin typeface="Courier New"/>
              </a:rPr>
              <a:t>CSV:   </a:t>
            </a:r>
            <a:r>
              <a:rPr sz="1300" b="0" i="0" dirty="0" err="1">
                <a:solidFill>
                  <a:srgbClr val="4EC98A"/>
                </a:solidFill>
                <a:latin typeface="Courier New"/>
              </a:rPr>
              <a:t>Glucose,Age,BMI,BloodPressure,Status</a:t>
            </a:r>
            <a:endParaRPr sz="1300" b="0" i="0" dirty="0">
              <a:solidFill>
                <a:srgbClr val="4EC98A"/>
              </a:solidFill>
              <a:latin typeface="Courier New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94360" y="470916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5BB8FF"/>
                </a:solidFill>
                <a:latin typeface="Courier New"/>
              </a:rPr>
              <a:t>       72,24,21.0,110,Healthy      |     118,41,28.0,138,Patient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34924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• Minimum 6 total samples; at least 3 per class for valid training</a:t>
            </a:r>
          </a:p>
          <a:p>
            <a:pPr algn="l">
              <a:spcBef>
                <a:spcPts val="1000"/>
              </a:spcBef>
            </a:pPr>
            <a:r>
              <a:rPr sz="1600" b="0">
                <a:solidFill>
                  <a:srgbClr val="FFFFFF"/>
                </a:solidFill>
                <a:latin typeface="Calibri"/>
              </a:rPr>
              <a:t>• Stratified 80/20 Train/Test split preserves class ratio in both subsets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92240"/>
            <a:ext cx="822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 dirty="0">
                <a:solidFill>
                  <a:srgbClr val="CCD6E8"/>
                </a:solidFill>
                <a:latin typeface="Calibri"/>
              </a:rPr>
              <a:t>5 / </a:t>
            </a:r>
            <a:r>
              <a:rPr lang="en-US" sz="1100" b="0" i="0" dirty="0">
                <a:solidFill>
                  <a:srgbClr val="CCD6E8"/>
                </a:solidFill>
                <a:latin typeface="Calibri"/>
              </a:rPr>
              <a:t>14</a:t>
            </a:r>
            <a:endParaRPr sz="1100" b="0" i="0" dirty="0">
              <a:solidFill>
                <a:srgbClr val="CCD6E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71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Training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BB8FF"/>
                </a:solidFill>
                <a:latin typeface="Calibri"/>
              </a:rPr>
              <a:t>Data entry, hyperparameter sliders, and model fitting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5955"/>
            <a:ext cx="3583858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sz="1600" b="0" dirty="0">
                <a:solidFill>
                  <a:srgbClr val="FFFFFF"/>
                </a:solidFill>
                <a:latin typeface="Calibri"/>
              </a:rPr>
              <a:t>• Model learns per-class Gaussian distributions (μ, σ²) via Maximum Likelihood Estimation</a:t>
            </a:r>
          </a:p>
          <a:p>
            <a:pPr algn="l">
              <a:spcBef>
                <a:spcPts val="1200"/>
              </a:spcBef>
            </a:pPr>
            <a:r>
              <a:rPr sz="1600" b="0" dirty="0">
                <a:solidFill>
                  <a:srgbClr val="FFFFFF"/>
                </a:solidFill>
                <a:latin typeface="Calibri"/>
              </a:rPr>
              <a:t>• Four interactive sliders: Prior, Variance Smoothing (λ), Decision Threshold, Class Weight</a:t>
            </a:r>
          </a:p>
          <a:p>
            <a:pPr algn="l">
              <a:spcBef>
                <a:spcPts val="1200"/>
              </a:spcBef>
            </a:pPr>
            <a:r>
              <a:rPr sz="1600" b="0" dirty="0">
                <a:solidFill>
                  <a:srgbClr val="FFFFFF"/>
                </a:solidFill>
                <a:latin typeface="Calibri"/>
              </a:rPr>
              <a:t>• Supports manual entry, demo dataset, or CSV import; retraining updates all tabs instantly</a:t>
            </a:r>
          </a:p>
          <a:p>
            <a:pPr algn="l">
              <a:spcBef>
                <a:spcPts val="1200"/>
              </a:spcBef>
            </a:pPr>
            <a:r>
              <a:rPr sz="1600" b="0" dirty="0">
                <a:solidFill>
                  <a:srgbClr val="FFFFFF"/>
                </a:solidFill>
                <a:latin typeface="Calibri"/>
              </a:rPr>
              <a:t>• Stratified 80/20 split or Leave-One-Out (LOO) cross-validation selectable by user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109884" y="1417320"/>
            <a:ext cx="8082116" cy="5029200"/>
          </a:xfrm>
          <a:prstGeom prst="rect">
            <a:avLst/>
          </a:prstGeom>
          <a:solidFill>
            <a:srgbClr val="142652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822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 dirty="0">
                <a:solidFill>
                  <a:srgbClr val="CCD6E8"/>
                </a:solidFill>
                <a:latin typeface="Calibri"/>
              </a:rPr>
              <a:t>6 / </a:t>
            </a:r>
            <a:r>
              <a:rPr lang="en-US" sz="1100" b="0" i="0" dirty="0">
                <a:solidFill>
                  <a:srgbClr val="CCD6E8"/>
                </a:solidFill>
                <a:latin typeface="Calibri"/>
              </a:rPr>
              <a:t>14</a:t>
            </a:r>
            <a:endParaRPr sz="1100" b="0" i="0" dirty="0">
              <a:solidFill>
                <a:srgbClr val="CCD6E8"/>
              </a:solidFill>
              <a:latin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F792E57-4146-E9A3-6EFD-7D10B49129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054" r="1544" b="5334"/>
          <a:stretch/>
        </p:blipFill>
        <p:spPr>
          <a:xfrm>
            <a:off x="4178294" y="1524001"/>
            <a:ext cx="7891786" cy="47686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71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Model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BB8FF"/>
                </a:solidFill>
                <a:latin typeface="Calibri"/>
              </a:rPr>
              <a:t>Quick-action control panel and workflow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3318387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sz="1600" b="0" dirty="0">
                <a:solidFill>
                  <a:srgbClr val="FFFFFF"/>
                </a:solidFill>
                <a:latin typeface="Calibri"/>
              </a:rPr>
              <a:t>• One-click shortcuts: Load Demo &amp; Train, Reset Model, Go to Inference / Analytics</a:t>
            </a:r>
          </a:p>
          <a:p>
            <a:pPr algn="l">
              <a:spcBef>
                <a:spcPts val="1200"/>
              </a:spcBef>
            </a:pPr>
            <a:r>
              <a:rPr sz="1600" b="0" dirty="0">
                <a:solidFill>
                  <a:srgbClr val="FFFFFF"/>
                </a:solidFill>
                <a:latin typeface="Calibri"/>
              </a:rPr>
              <a:t>• Seven-step Recommended Workflow guide built into the tab</a:t>
            </a:r>
          </a:p>
          <a:p>
            <a:pPr algn="l">
              <a:spcBef>
                <a:spcPts val="1200"/>
              </a:spcBef>
            </a:pPr>
            <a:r>
              <a:rPr sz="1600" b="0" dirty="0">
                <a:solidFill>
                  <a:srgbClr val="FFFFFF"/>
                </a:solidFill>
                <a:latin typeface="Calibri"/>
              </a:rPr>
              <a:t>• Allows rapid model iteration without navigating multiple tabs</a:t>
            </a:r>
          </a:p>
          <a:p>
            <a:pPr algn="l">
              <a:spcBef>
                <a:spcPts val="1200"/>
              </a:spcBef>
            </a:pPr>
            <a:r>
              <a:rPr sz="1600" b="0" dirty="0">
                <a:solidFill>
                  <a:srgbClr val="FFFFFF"/>
                </a:solidFill>
                <a:latin typeface="Calibri"/>
              </a:rPr>
              <a:t>• Supports Save Model (.mdl) and Load Model for session persistence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3775587" y="1417320"/>
            <a:ext cx="8416413" cy="5029200"/>
          </a:xfrm>
          <a:prstGeom prst="rect">
            <a:avLst/>
          </a:prstGeom>
          <a:solidFill>
            <a:srgbClr val="142652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822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 dirty="0">
                <a:solidFill>
                  <a:srgbClr val="CCD6E8"/>
                </a:solidFill>
                <a:latin typeface="Calibri"/>
              </a:rPr>
              <a:t>7 / </a:t>
            </a:r>
            <a:r>
              <a:rPr lang="en-US" sz="1100" b="0" i="0" dirty="0">
                <a:solidFill>
                  <a:srgbClr val="CCD6E8"/>
                </a:solidFill>
                <a:latin typeface="Calibri"/>
              </a:rPr>
              <a:t>14</a:t>
            </a:r>
            <a:endParaRPr sz="1100" b="0" i="0" dirty="0">
              <a:solidFill>
                <a:srgbClr val="CCD6E8"/>
              </a:solidFill>
              <a:latin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C95F23D-8C0C-A105-9F64-487EA315C5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235" r="1039" b="5458"/>
          <a:stretch/>
        </p:blipFill>
        <p:spPr>
          <a:xfrm>
            <a:off x="3863358" y="1554480"/>
            <a:ext cx="8183730" cy="47578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71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Inference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BB8FF"/>
                </a:solidFill>
                <a:latin typeface="Calibri"/>
              </a:rPr>
              <a:t>Real-time posterior probability computation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79"/>
            <a:ext cx="3121742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sz="1600" b="0" dirty="0">
                <a:solidFill>
                  <a:srgbClr val="FFFFFF"/>
                </a:solidFill>
                <a:latin typeface="Calibri"/>
              </a:rPr>
              <a:t>• User adjusts four sliders (Glucose, Age, BMI, BP) →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RunInference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() fires automatically</a:t>
            </a:r>
          </a:p>
          <a:p>
            <a:pPr algn="l">
              <a:spcBef>
                <a:spcPts val="1200"/>
              </a:spcBef>
            </a:pPr>
            <a:r>
              <a:rPr sz="1600" b="0" dirty="0">
                <a:solidFill>
                  <a:srgbClr val="FFFFFF"/>
                </a:solidFill>
                <a:latin typeface="Calibri"/>
              </a:rPr>
              <a:t>• Output: PATIENT / HEALTHY banner + posterior % via animated </a:t>
            </a:r>
            <a:r>
              <a:rPr sz="1600" b="0" dirty="0" err="1">
                <a:solidFill>
                  <a:srgbClr val="FFFFFF"/>
                </a:solidFill>
                <a:latin typeface="Calibri"/>
              </a:rPr>
              <a:t>RiskBar</a:t>
            </a:r>
            <a:r>
              <a:rPr sz="1600" b="0" dirty="0">
                <a:solidFill>
                  <a:srgbClr val="FFFFFF"/>
                </a:solidFill>
                <a:latin typeface="Calibri"/>
              </a:rPr>
              <a:t> control</a:t>
            </a:r>
          </a:p>
          <a:p>
            <a:pPr algn="l">
              <a:spcBef>
                <a:spcPts val="1200"/>
              </a:spcBef>
            </a:pPr>
            <a:r>
              <a:rPr sz="1600" b="0" dirty="0">
                <a:solidFill>
                  <a:srgbClr val="FFFFFF"/>
                </a:solidFill>
                <a:latin typeface="Calibri"/>
              </a:rPr>
              <a:t>• Z-score outlier detection warns when input lies outside the learned distribution</a:t>
            </a:r>
          </a:p>
          <a:p>
            <a:pPr algn="l">
              <a:spcBef>
                <a:spcPts val="1200"/>
              </a:spcBef>
            </a:pPr>
            <a:r>
              <a:rPr sz="1600" b="0" dirty="0">
                <a:solidFill>
                  <a:srgbClr val="FFFFFF"/>
                </a:solidFill>
                <a:latin typeface="Calibri"/>
              </a:rPr>
              <a:t>• P(Patient) vs Glucose line chart updates in real time across 50–250 mg/dL sweep</a:t>
            </a:r>
          </a:p>
        </p:txBody>
      </p:sp>
      <p:sp>
        <p:nvSpPr>
          <p:cNvPr id="7" name="Rectangle 6"/>
          <p:cNvSpPr/>
          <p:nvPr/>
        </p:nvSpPr>
        <p:spPr>
          <a:xfrm>
            <a:off x="3578941" y="1417320"/>
            <a:ext cx="8612753" cy="5029200"/>
          </a:xfrm>
          <a:prstGeom prst="rect">
            <a:avLst/>
          </a:prstGeom>
          <a:solidFill>
            <a:srgbClr val="142652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822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 dirty="0">
                <a:solidFill>
                  <a:srgbClr val="CCD6E8"/>
                </a:solidFill>
                <a:latin typeface="Calibri"/>
              </a:rPr>
              <a:t>8 / </a:t>
            </a:r>
            <a:r>
              <a:rPr lang="en-US" sz="1100" b="0" i="0" dirty="0">
                <a:solidFill>
                  <a:srgbClr val="CCD6E8"/>
                </a:solidFill>
                <a:latin typeface="Calibri"/>
              </a:rPr>
              <a:t>14</a:t>
            </a:r>
            <a:endParaRPr sz="1100" b="0" i="0" dirty="0">
              <a:solidFill>
                <a:srgbClr val="CCD6E8"/>
              </a:solidFill>
              <a:latin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20B2EB0-E151-579A-F471-5E23630BC8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00" t="3728" r="1000" b="5334"/>
          <a:stretch/>
        </p:blipFill>
        <p:spPr>
          <a:xfrm>
            <a:off x="3689342" y="1554479"/>
            <a:ext cx="8380738" cy="47971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71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Calibri"/>
              </a:rPr>
              <a:t>Analytics</a:t>
            </a:r>
            <a:r>
              <a:rPr lang="en-US" sz="3000" b="1" i="0" dirty="0">
                <a:solidFill>
                  <a:srgbClr val="FFFFFF"/>
                </a:solidFill>
                <a:latin typeface="Calibri"/>
              </a:rPr>
              <a:t>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1E90FF"/>
                </a:solidFill>
                <a:latin typeface="Calibri"/>
              </a:rPr>
              <a:t>Quantifying model performance on held-out test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79"/>
            <a:ext cx="312174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lang="en-US" sz="1600" dirty="0">
                <a:solidFill>
                  <a:srgbClr val="CCD6E8"/>
                </a:solidFill>
                <a:latin typeface="Calibri"/>
              </a:rPr>
              <a:t>Metrics: Accuracy, Precision, Recall, F1-Score per class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lang="en-US" sz="1600" dirty="0">
                <a:solidFill>
                  <a:srgbClr val="CCD6E8"/>
                </a:solidFill>
                <a:latin typeface="Calibri"/>
              </a:rPr>
              <a:t>Confusion matrix visualization for multi-class diagnosis evaluation</a:t>
            </a:r>
          </a:p>
          <a:p>
            <a:pPr>
              <a:spcBef>
                <a:spcPts val="1000"/>
              </a:spcBef>
              <a:spcAft>
                <a:spcPts val="200"/>
              </a:spcAft>
            </a:pPr>
            <a:r>
              <a:rPr lang="en-US" sz="1600" dirty="0">
                <a:solidFill>
                  <a:srgbClr val="CCD6E8"/>
                </a:solidFill>
                <a:latin typeface="Calibri"/>
              </a:rPr>
              <a:t>Model benchmarked on held-out test set for unbiased performance reporting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578941" y="1417320"/>
            <a:ext cx="8612753" cy="5029200"/>
          </a:xfrm>
          <a:prstGeom prst="rect">
            <a:avLst/>
          </a:prstGeom>
          <a:solidFill>
            <a:srgbClr val="142652"/>
          </a:solidFill>
          <a:ln w="19050"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0" y="6492240"/>
            <a:ext cx="822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b="0" i="0" dirty="0">
                <a:solidFill>
                  <a:srgbClr val="CCD6E8"/>
                </a:solidFill>
                <a:latin typeface="Calibri"/>
              </a:rPr>
              <a:t>9</a:t>
            </a:r>
            <a:r>
              <a:rPr sz="1100" b="0" i="0" dirty="0">
                <a:solidFill>
                  <a:srgbClr val="CCD6E8"/>
                </a:solidFill>
                <a:latin typeface="Calibri"/>
              </a:rPr>
              <a:t> / </a:t>
            </a:r>
            <a:r>
              <a:rPr lang="en-US" sz="1100" b="0" i="0" dirty="0">
                <a:solidFill>
                  <a:srgbClr val="CCD6E8"/>
                </a:solidFill>
                <a:latin typeface="Calibri"/>
              </a:rPr>
              <a:t>14</a:t>
            </a:r>
            <a:endParaRPr sz="1100" b="0" i="0" dirty="0">
              <a:solidFill>
                <a:srgbClr val="CCD6E8"/>
              </a:solidFill>
              <a:latin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C92F11-96FA-3EAB-2435-3D4F37FEC3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00" t="4158" r="1000" b="5333"/>
          <a:stretch/>
        </p:blipFill>
        <p:spPr>
          <a:xfrm>
            <a:off x="3697765" y="1554479"/>
            <a:ext cx="8342232" cy="4741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9300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71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Analytics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BB8FF"/>
                </a:solidFill>
                <a:latin typeface="Calibri"/>
              </a:rPr>
              <a:t>Validation results on the demo dataset (12 samples, 80/20 split)</a:t>
            </a:r>
          </a:p>
        </p:txBody>
      </p:sp>
      <p:sp>
        <p:nvSpPr>
          <p:cNvPr id="6" name="Rectangle 5"/>
          <p:cNvSpPr/>
          <p:nvPr/>
        </p:nvSpPr>
        <p:spPr>
          <a:xfrm>
            <a:off x="655321" y="2458556"/>
            <a:ext cx="3383280" cy="1005840"/>
          </a:xfrm>
          <a:prstGeom prst="rect">
            <a:avLst/>
          </a:prstGeom>
          <a:solidFill>
            <a:srgbClr val="14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6761" y="25042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Train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761" y="287003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EC98A"/>
                </a:solidFill>
                <a:latin typeface="Calibri"/>
              </a:rPr>
              <a:t>100.0 %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4361" y="2458556"/>
            <a:ext cx="3383280" cy="1005840"/>
          </a:xfrm>
          <a:prstGeom prst="rect">
            <a:avLst/>
          </a:prstGeom>
          <a:solidFill>
            <a:srgbClr val="14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95800" y="25042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Test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5800" y="287003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EC98A"/>
                </a:solidFill>
                <a:latin typeface="Calibri"/>
              </a:rPr>
              <a:t>83.3 %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53400" y="2458556"/>
            <a:ext cx="3383280" cy="1005840"/>
          </a:xfrm>
          <a:prstGeom prst="rect">
            <a:avLst/>
          </a:prstGeom>
          <a:solidFill>
            <a:srgbClr val="14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4840" y="250427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4840" y="287003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700"/>
                </a:solidFill>
                <a:latin typeface="Calibri"/>
              </a:rPr>
              <a:t>75.0 %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46961" y="3647276"/>
            <a:ext cx="3383280" cy="1005840"/>
          </a:xfrm>
          <a:prstGeom prst="rect">
            <a:avLst/>
          </a:prstGeom>
          <a:solidFill>
            <a:srgbClr val="14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38401" y="36929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8"/>
                </a:solidFill>
                <a:latin typeface="Calibri"/>
              </a:rPr>
              <a:t>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38401" y="405875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EC98A"/>
                </a:solidFill>
                <a:latin typeface="Calibri"/>
              </a:rPr>
              <a:t>100.0 %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2682" y="3647276"/>
            <a:ext cx="3383280" cy="1005840"/>
          </a:xfrm>
          <a:prstGeom prst="rect">
            <a:avLst/>
          </a:prstGeom>
          <a:solidFill>
            <a:srgbClr val="14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94121" y="369299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CCD6E8"/>
                </a:solidFill>
                <a:latin typeface="Calibri"/>
              </a:rPr>
              <a:t>F1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4121" y="405875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 dirty="0">
                <a:solidFill>
                  <a:srgbClr val="4EC98A"/>
                </a:solidFill>
                <a:latin typeface="Calibri"/>
              </a:rPr>
              <a:t>85.7 %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D2682E-DC10-F490-6E90-6E44485BC219}"/>
              </a:ext>
            </a:extLst>
          </p:cNvPr>
          <p:cNvSpPr txBox="1"/>
          <p:nvPr/>
        </p:nvSpPr>
        <p:spPr>
          <a:xfrm>
            <a:off x="11247120" y="6492240"/>
            <a:ext cx="822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b="0" i="0" dirty="0">
                <a:solidFill>
                  <a:srgbClr val="CCD6E8"/>
                </a:solidFill>
                <a:latin typeface="Calibri"/>
              </a:rPr>
              <a:t>10</a:t>
            </a:r>
            <a:r>
              <a:rPr sz="1100" b="0" i="0" dirty="0">
                <a:solidFill>
                  <a:srgbClr val="CCD6E8"/>
                </a:solidFill>
                <a:latin typeface="Calibri"/>
              </a:rPr>
              <a:t> / </a:t>
            </a:r>
            <a:r>
              <a:rPr lang="en-US" sz="1100" b="0" i="0" dirty="0">
                <a:solidFill>
                  <a:srgbClr val="CCD6E8"/>
                </a:solidFill>
                <a:latin typeface="Calibri"/>
              </a:rPr>
              <a:t>14</a:t>
            </a:r>
            <a:endParaRPr sz="1100" b="0" i="0" dirty="0">
              <a:solidFill>
                <a:srgbClr val="CCD6E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71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Core: Posterior Probability Computation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BB8FF"/>
                </a:solidFill>
                <a:latin typeface="Calibri"/>
              </a:rPr>
              <a:t>Log-space GNB inference — TrainedBayesianClassifier.Predict()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5074920"/>
          </a:xfrm>
          <a:prstGeom prst="rect">
            <a:avLst/>
          </a:prstGeom>
          <a:solidFill>
            <a:srgbClr val="071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32004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3560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ourier New"/>
              </a:rPr>
              <a:t>C#   BayesianAnalyzer.cs  —  Predict(double[] features)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Courier New"/>
              </a:rPr>
              <a:t>// 1. Compute log-joint score for each 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30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ourier New"/>
              </a:rPr>
              <a:t>foreach (var model in _classModels)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3230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BB8FF"/>
                </a:solidFill>
                <a:latin typeface="Courier New"/>
              </a:rPr>
              <a:t>    double logScore = Math.Log(model.Prior);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3405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ourier New"/>
              </a:rPr>
              <a:t>    for (int i = 0; i &lt; features.Length; i++) {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03580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BB8FF"/>
                </a:solidFill>
                <a:latin typeface="Courier New"/>
              </a:rPr>
              <a:t>        logScore += LogGaussianPDF(features[i],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337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5BB8FF"/>
                </a:solidFill>
                <a:latin typeface="Courier New"/>
              </a:rPr>
              <a:t>                       model.Means[i], model.Vars[i]);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393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ourier New"/>
              </a:rPr>
              <a:t>   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94106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ourier New"/>
              </a:rPr>
              <a:t>    if (model.Label == PositiveLabel)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24281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D700"/>
                </a:solidFill>
                <a:latin typeface="Courier New"/>
              </a:rPr>
              <a:t>        logScore += Math.Log(settings.PositiveClassWeight);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5445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ourier New"/>
              </a:rPr>
              <a:t>    logScores[model.Label] = logScore;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4846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1480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D6E8"/>
                </a:solidFill>
                <a:latin typeface="Courier New"/>
              </a:rPr>
              <a:t>// 2. Log-sum-exp normalization → posterior probabilities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44982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EC98A"/>
                </a:solidFill>
                <a:latin typeface="Courier New"/>
              </a:rPr>
              <a:t>double logZ = LogSumExp(logScores.Values);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751576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EC98A"/>
                </a:solidFill>
                <a:latin typeface="Courier New"/>
              </a:rPr>
              <a:t>double posterior = Math.Exp(logScores[PositiveLabel] - logZ);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0533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D700"/>
                </a:solidFill>
                <a:latin typeface="Courier New"/>
              </a:rPr>
              <a:t>return posterior &gt;= settings.DecisionThreshold ? "Patient" : "Healthy";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92240"/>
            <a:ext cx="822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 dirty="0">
                <a:solidFill>
                  <a:srgbClr val="CCD6E8"/>
                </a:solidFill>
                <a:latin typeface="Calibri"/>
              </a:rPr>
              <a:t>1</a:t>
            </a:r>
            <a:r>
              <a:rPr lang="en-US" sz="1100" b="0" i="0" dirty="0">
                <a:solidFill>
                  <a:srgbClr val="CCD6E8"/>
                </a:solidFill>
                <a:latin typeface="Calibri"/>
              </a:rPr>
              <a:t>1</a:t>
            </a:r>
            <a:r>
              <a:rPr sz="1100" b="0" i="0" dirty="0">
                <a:solidFill>
                  <a:srgbClr val="CCD6E8"/>
                </a:solidFill>
                <a:latin typeface="Calibri"/>
              </a:rPr>
              <a:t> / </a:t>
            </a:r>
            <a:r>
              <a:rPr lang="en-US" sz="1100" b="0" i="0" dirty="0">
                <a:solidFill>
                  <a:srgbClr val="CCD6E8"/>
                </a:solidFill>
                <a:latin typeface="Calibri"/>
              </a:rPr>
              <a:t>14</a:t>
            </a:r>
            <a:endParaRPr sz="1100" b="0" i="0" dirty="0">
              <a:solidFill>
                <a:srgbClr val="CCD6E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71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Challenges &amp;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BB8FF"/>
                </a:solidFill>
                <a:latin typeface="Calibri"/>
              </a:rPr>
              <a:t>Trade-offs encountered during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1143000"/>
          </a:xfrm>
          <a:prstGeom prst="rect">
            <a:avLst/>
          </a:prstGeom>
          <a:solidFill>
            <a:srgbClr val="14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64592" cy="1143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5389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B8FF"/>
                </a:solidFill>
                <a:latin typeface="Calibri"/>
              </a:rPr>
              <a:t>Feature Independence Assumption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0136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Naïve Bayes assumes conditional independence — BMI and BP are correlated in reality;
accepted as a design trade-off for interpretability and computational simplicity.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97480"/>
            <a:ext cx="11247120" cy="1143000"/>
          </a:xfrm>
          <a:prstGeom prst="rect">
            <a:avLst/>
          </a:prstGeom>
          <a:solidFill>
            <a:srgbClr val="10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697480"/>
            <a:ext cx="164592" cy="1143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9808" y="273405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B8FF"/>
                </a:solidFill>
                <a:latin typeface="Calibri"/>
              </a:rPr>
              <a:t>Zero-Frequency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08152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Collapsed variance → undefined Gaussian PDF; solved with Laplace-style smoothing:
ε = max(λ · globalMaxVariance, 1×10⁻⁶) added to every feature variance.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77639"/>
            <a:ext cx="11247120" cy="1143000"/>
          </a:xfrm>
          <a:prstGeom prst="rect">
            <a:avLst/>
          </a:prstGeom>
          <a:solidFill>
            <a:srgbClr val="142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" y="3977639"/>
            <a:ext cx="164592" cy="1143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49808" y="4014215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B8FF"/>
                </a:solidFill>
                <a:latin typeface="Calibri"/>
              </a:rPr>
              <a:t>Prior Selection for Imbalanced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361688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Empirical prior (class frequency) vs. manual override via slider;
class weight multiplier on the log-prior enables asymmetric cost adjustment.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57799"/>
            <a:ext cx="11247120" cy="1143000"/>
          </a:xfrm>
          <a:prstGeom prst="rect">
            <a:avLst/>
          </a:prstGeom>
          <a:solidFill>
            <a:srgbClr val="101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5257799"/>
            <a:ext cx="164592" cy="11430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9808" y="5294375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BB8FF"/>
                </a:solidFill>
                <a:latin typeface="Calibri"/>
              </a:rPr>
              <a:t>C# vs. Python Ecosystem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5641847"/>
            <a:ext cx="10789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No sklearn / NumPy — full GNB pipeline, CSV parser, and chart engine built from scratch;
model serialized to portable plain-text .mdl format (locale-invariant floats).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92240"/>
            <a:ext cx="822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 dirty="0">
                <a:solidFill>
                  <a:srgbClr val="CCD6E8"/>
                </a:solidFill>
                <a:latin typeface="Calibri"/>
              </a:rPr>
              <a:t>1</a:t>
            </a:r>
            <a:r>
              <a:rPr lang="en-US" sz="1100" b="0" i="0" dirty="0">
                <a:solidFill>
                  <a:srgbClr val="CCD6E8"/>
                </a:solidFill>
                <a:latin typeface="Calibri"/>
              </a:rPr>
              <a:t>2</a:t>
            </a:r>
            <a:r>
              <a:rPr sz="1100" b="0" i="0" dirty="0">
                <a:solidFill>
                  <a:srgbClr val="CCD6E8"/>
                </a:solidFill>
                <a:latin typeface="Calibri"/>
              </a:rPr>
              <a:t> / </a:t>
            </a:r>
            <a:r>
              <a:rPr lang="en-US" sz="1100" dirty="0">
                <a:solidFill>
                  <a:srgbClr val="CCD6E8"/>
                </a:solidFill>
                <a:latin typeface="Calibri"/>
              </a:rPr>
              <a:t>14</a:t>
            </a:r>
            <a:endParaRPr sz="1100" b="0" i="0" dirty="0">
              <a:solidFill>
                <a:srgbClr val="CCD6E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71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BB8FF"/>
                </a:solidFill>
                <a:latin typeface="Calibri"/>
              </a:rPr>
              <a:t>Summary and roadmap for extension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394960" cy="4389120"/>
          </a:xfrm>
          <a:prstGeom prst="rect">
            <a:avLst/>
          </a:prstGeom>
          <a:solidFill>
            <a:srgbClr val="0D3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394960" cy="3657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4356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74519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2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• Full GNB binary classifier implemented from first principles in C#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• Real-time, uncertainty-aware risk assessment with interpretable outputs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• LOO + Train/Test validation; 83.3% test accuracy on demo dataset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FFFFFF"/>
                </a:solidFill>
                <a:latin typeface="Calibri"/>
              </a:rPr>
              <a:t>• Portable .mdl model persistence; no external ML library required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17320"/>
            <a:ext cx="5486400" cy="4389120"/>
          </a:xfrm>
          <a:prstGeom prst="rect">
            <a:avLst/>
          </a:prstGeom>
          <a:solidFill>
            <a:srgbClr val="07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417320"/>
            <a:ext cx="5486400" cy="36576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9360" y="14356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874519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• Stratified k-fold cross-validation (k = 5 or 10)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• ROC curve &amp; SHAP feature importance on Analytics tab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• Dynamic feature schema from CSV header (not hard-coded)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• Multi-class extension via one-vs-rest Bayesian classifiers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• Deploy as ASP.NET Core web service with real EHR dataset</a:t>
            </a:r>
          </a:p>
          <a:p>
            <a:pPr algn="l">
              <a:spcBef>
                <a:spcPts val="1000"/>
              </a:spcBef>
            </a:pPr>
            <a:r>
              <a:rPr sz="1400" b="0">
                <a:solidFill>
                  <a:srgbClr val="FFFFFF"/>
                </a:solidFill>
                <a:latin typeface="Calibri"/>
              </a:rPr>
              <a:t>• Export trained model as ONNX / PMML for interoperability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FFFFFF"/>
                </a:solidFill>
                <a:latin typeface="Calibri"/>
              </a:rPr>
              <a:t>🔗  GitHub:  github.com/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ZainAlabidinShbani</a:t>
            </a:r>
            <a:r>
              <a:rPr sz="1300" b="1" i="0" dirty="0">
                <a:solidFill>
                  <a:srgbClr val="FFFFFF"/>
                </a:solidFill>
                <a:latin typeface="Calibri"/>
              </a:rPr>
              <a:t>/ml-ai-projects/tree/main/</a:t>
            </a:r>
            <a:r>
              <a:rPr sz="1300" b="1" i="0" dirty="0" err="1">
                <a:solidFill>
                  <a:srgbClr val="FFFFFF"/>
                </a:solidFill>
                <a:latin typeface="Calibri"/>
              </a:rPr>
              <a:t>Bayesian_Medical_Risk_Analyzer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47120" y="6492240"/>
            <a:ext cx="8229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 dirty="0">
                <a:solidFill>
                  <a:srgbClr val="CCD6E8"/>
                </a:solidFill>
                <a:latin typeface="Calibri"/>
              </a:rPr>
              <a:t>1</a:t>
            </a:r>
            <a:r>
              <a:rPr lang="en-US" sz="1100" b="0" i="0" dirty="0">
                <a:solidFill>
                  <a:srgbClr val="CCD6E8"/>
                </a:solidFill>
                <a:latin typeface="Calibri"/>
              </a:rPr>
              <a:t>3</a:t>
            </a:r>
            <a:r>
              <a:rPr sz="1100" b="0" i="0" dirty="0">
                <a:solidFill>
                  <a:srgbClr val="CCD6E8"/>
                </a:solidFill>
                <a:latin typeface="Calibri"/>
              </a:rPr>
              <a:t> / </a:t>
            </a:r>
            <a:r>
              <a:rPr lang="en-US" sz="1100" dirty="0">
                <a:solidFill>
                  <a:srgbClr val="CCD6E8"/>
                </a:solidFill>
                <a:latin typeface="Calibri"/>
              </a:rPr>
              <a:t>14</a:t>
            </a:r>
            <a:endParaRPr sz="1100" b="0" i="0" dirty="0">
              <a:solidFill>
                <a:srgbClr val="CCD6E8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0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190449"/>
            <a:ext cx="12191695" cy="45720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8788" y="18288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dirty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B08E5D-3307-0A14-7E4B-995F52EAD46A}"/>
              </a:ext>
            </a:extLst>
          </p:cNvPr>
          <p:cNvSpPr txBox="1"/>
          <p:nvPr/>
        </p:nvSpPr>
        <p:spPr>
          <a:xfrm>
            <a:off x="458788" y="2788921"/>
            <a:ext cx="11247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i="1" dirty="0">
                <a:solidFill>
                  <a:srgbClr val="D6E4F7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FDCB6F-1A16-CCD8-4066-93AA8C4359B5}"/>
              </a:ext>
            </a:extLst>
          </p:cNvPr>
          <p:cNvSpPr/>
          <p:nvPr/>
        </p:nvSpPr>
        <p:spPr>
          <a:xfrm>
            <a:off x="2287588" y="3429000"/>
            <a:ext cx="758952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30D8FE-79E0-C28A-1448-91645A512F3F}"/>
              </a:ext>
            </a:extLst>
          </p:cNvPr>
          <p:cNvSpPr txBox="1"/>
          <p:nvPr/>
        </p:nvSpPr>
        <p:spPr>
          <a:xfrm>
            <a:off x="458788" y="3611881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00B0F0"/>
                </a:solidFill>
                <a:latin typeface="Calibri"/>
              </a:rPr>
              <a:t>Project Repository: </a:t>
            </a:r>
            <a:r>
              <a:rPr lang="en-US" sz="1400" dirty="0">
                <a:solidFill>
                  <a:srgbClr val="00B0F0"/>
                </a:solidFill>
                <a:latin typeface="Calibri"/>
              </a:rPr>
              <a:t>https://github.com/ZainAlabidinShbani/ml-ai-projects/tree/main/ </a:t>
            </a:r>
            <a:r>
              <a:rPr lang="en-US" sz="1400" dirty="0" err="1">
                <a:solidFill>
                  <a:srgbClr val="00B0F0"/>
                </a:solidFill>
                <a:latin typeface="Calibri"/>
              </a:rPr>
              <a:t>Bayesian_Medical_Risk_Analyzer</a:t>
            </a:r>
            <a:endParaRPr sz="1400" dirty="0">
              <a:solidFill>
                <a:srgbClr val="00B0F0"/>
              </a:solidFill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839127-11C7-31AF-2DEE-FF6484B902F9}"/>
              </a:ext>
            </a:extLst>
          </p:cNvPr>
          <p:cNvSpPr txBox="1"/>
          <p:nvPr/>
        </p:nvSpPr>
        <p:spPr>
          <a:xfrm>
            <a:off x="458788" y="4069081"/>
            <a:ext cx="112471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+mj-lt"/>
              </a:rPr>
              <a:t>Zain Alabidin Shbani  ·  Lana Al </a:t>
            </a:r>
            <a:r>
              <a:rPr lang="en-US" sz="1400" dirty="0" err="1">
                <a:solidFill>
                  <a:schemeClr val="bg1"/>
                </a:solidFill>
                <a:latin typeface="+mj-lt"/>
              </a:rPr>
              <a:t>Wazzeh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 · </a:t>
            </a:r>
            <a:r>
              <a:rPr lang="en-US" sz="1400" dirty="0" err="1">
                <a:solidFill>
                  <a:schemeClr val="bg1"/>
                </a:solidFill>
                <a:latin typeface="+mj-lt"/>
              </a:rPr>
              <a:t>Beilassan</a:t>
            </a:r>
            <a:r>
              <a:rPr lang="en-US" sz="140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400" dirty="0" err="1">
                <a:solidFill>
                  <a:schemeClr val="bg1"/>
                </a:solidFill>
                <a:latin typeface="+mj-lt"/>
              </a:rPr>
              <a:t>Hdewa</a:t>
            </a:r>
            <a:endParaRPr lang="en-US" sz="14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D97038-615D-82F1-4F53-D9FBFB9C0C43}"/>
              </a:ext>
            </a:extLst>
          </p:cNvPr>
          <p:cNvSpPr txBox="1"/>
          <p:nvPr/>
        </p:nvSpPr>
        <p:spPr>
          <a:xfrm>
            <a:off x="458788" y="4434840"/>
            <a:ext cx="11247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 dirty="0">
                <a:solidFill>
                  <a:srgbClr val="00B0F0"/>
                </a:solidFill>
                <a:latin typeface="Calibri"/>
              </a:rPr>
              <a:t>Machine Learning </a:t>
            </a:r>
            <a:r>
              <a:rPr sz="1300" dirty="0">
                <a:solidFill>
                  <a:srgbClr val="00B0F0"/>
                </a:solidFill>
                <a:latin typeface="Calibri"/>
              </a:rPr>
              <a:t>Course  ·  Manara University  ·  2025–2026</a:t>
            </a:r>
          </a:p>
        </p:txBody>
      </p:sp>
    </p:spTree>
    <p:extLst>
      <p:ext uri="{BB962C8B-B14F-4D97-AF65-F5344CB8AC3E}">
        <p14:creationId xmlns:p14="http://schemas.microsoft.com/office/powerpoint/2010/main" val="384295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1233</Words>
  <Application>Microsoft Office PowerPoint</Application>
  <PresentationFormat>Widescreen</PresentationFormat>
  <Paragraphs>164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Zain Al-Abidin Shbani</cp:lastModifiedBy>
  <cp:revision>20</cp:revision>
  <dcterms:created xsi:type="dcterms:W3CDTF">2013-01-27T09:14:16Z</dcterms:created>
  <dcterms:modified xsi:type="dcterms:W3CDTF">2026-06-02T17:14:57Z</dcterms:modified>
  <cp:category/>
</cp:coreProperties>
</file>